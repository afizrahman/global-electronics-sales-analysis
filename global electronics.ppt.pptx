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EC503-0AA2-4918-BB3D-A70FA5BAB1D1}" v="100" dt="2025-11-12T18:41:40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77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03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666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23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445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38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8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35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50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879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532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845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368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6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332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9296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7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8695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15627"/>
            <a:ext cx="12191999" cy="67392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solidFill>
                  <a:srgbClr val="59A472"/>
                </a:solidFill>
                <a:ea typeface="+mn-lt"/>
                <a:cs typeface="+mn-lt"/>
              </a:rPr>
              <a:t>POWER BI REPORT STRUCTURE:</a:t>
            </a:r>
            <a:endParaRPr lang="en-US" sz="3200"/>
          </a:p>
          <a:p>
            <a:r>
              <a:rPr lang="en-US" sz="3200" b="1" dirty="0">
                <a:solidFill>
                  <a:srgbClr val="4C9DFF"/>
                </a:solidFill>
                <a:ea typeface="+mn-lt"/>
                <a:cs typeface="+mn-lt"/>
              </a:rPr>
              <a:t>Dashboard Overview:</a:t>
            </a:r>
            <a:endParaRPr lang="en-US" sz="3200"/>
          </a:p>
          <a:p>
            <a:r>
              <a:rPr lang="en-US" sz="3200" b="1" dirty="0">
                <a:solidFill>
                  <a:srgbClr val="E30000"/>
                </a:solidFill>
                <a:ea typeface="+mn-lt"/>
                <a:cs typeface="+mn-lt"/>
              </a:rPr>
              <a:t>Purpose:</a:t>
            </a:r>
            <a:r>
              <a:rPr lang="en-US" sz="3200" dirty="0">
                <a:solidFill>
                  <a:srgbClr val="E30000"/>
                </a:solidFill>
                <a:ea typeface="+mn-lt"/>
                <a:cs typeface="+mn-lt"/>
              </a:rPr>
              <a:t> </a:t>
            </a:r>
            <a:endParaRPr lang="en-US" sz="3200"/>
          </a:p>
          <a:p>
            <a:r>
              <a:rPr lang="en-US" sz="3200" dirty="0">
                <a:ea typeface="+mn-lt"/>
                <a:cs typeface="+mn-lt"/>
              </a:rPr>
              <a:t>Quick, high-level summary of the analysis.</a:t>
            </a:r>
            <a:endParaRPr lang="en-US" sz="3200"/>
          </a:p>
          <a:p>
            <a:r>
              <a:rPr lang="en-US" sz="3200" b="1" dirty="0">
                <a:ea typeface="+mn-lt"/>
                <a:cs typeface="+mn-lt"/>
              </a:rPr>
              <a:t>Include visuals such as:</a:t>
            </a:r>
            <a:endParaRPr lang="en-US" sz="3200"/>
          </a:p>
          <a:p>
            <a:r>
              <a:rPr lang="en-US" sz="3200" b="1" dirty="0">
                <a:ea typeface="+mn-lt"/>
                <a:cs typeface="+mn-lt"/>
              </a:rPr>
              <a:t> Total Sales</a:t>
            </a:r>
            <a:r>
              <a:rPr lang="en-US" sz="3200" dirty="0">
                <a:ea typeface="+mn-lt"/>
                <a:cs typeface="+mn-lt"/>
              </a:rPr>
              <a:t> (card visual)</a:t>
            </a:r>
            <a:endParaRPr lang="en-US" sz="3200"/>
          </a:p>
          <a:p>
            <a:r>
              <a:rPr lang="en-US" sz="3200" b="1" dirty="0">
                <a:ea typeface="+mn-lt"/>
                <a:cs typeface="+mn-lt"/>
              </a:rPr>
              <a:t> Total Customers</a:t>
            </a:r>
            <a:r>
              <a:rPr lang="en-US" sz="3200" dirty="0">
                <a:ea typeface="+mn-lt"/>
                <a:cs typeface="+mn-lt"/>
              </a:rPr>
              <a:t> (card visual)</a:t>
            </a:r>
            <a:endParaRPr lang="en-US" sz="3200"/>
          </a:p>
          <a:p>
            <a:r>
              <a:rPr lang="en-US" sz="3200" b="1" dirty="0">
                <a:ea typeface="+mn-lt"/>
                <a:cs typeface="+mn-lt"/>
              </a:rPr>
              <a:t> Top-Selling Products</a:t>
            </a:r>
            <a:r>
              <a:rPr lang="en-US" sz="3200" dirty="0">
                <a:ea typeface="+mn-lt"/>
                <a:cs typeface="+mn-lt"/>
              </a:rPr>
              <a:t> (bar chart)</a:t>
            </a:r>
            <a:endParaRPr lang="en-US" sz="3200"/>
          </a:p>
          <a:p>
            <a:r>
              <a:rPr lang="en-US" sz="3200" b="1" dirty="0">
                <a:ea typeface="+mn-lt"/>
                <a:cs typeface="+mn-lt"/>
              </a:rPr>
              <a:t> Sales Over Time</a:t>
            </a:r>
            <a:r>
              <a:rPr lang="en-US" sz="3200" dirty="0">
                <a:ea typeface="+mn-lt"/>
                <a:cs typeface="+mn-lt"/>
              </a:rPr>
              <a:t> (line chart)</a:t>
            </a:r>
            <a:endParaRPr lang="en-US" sz="3200"/>
          </a:p>
          <a:p>
            <a:r>
              <a:rPr lang="en-US" sz="3200" b="1" dirty="0">
                <a:ea typeface="+mn-lt"/>
                <a:cs typeface="+mn-lt"/>
              </a:rPr>
              <a:t>Sales by Region / Country</a:t>
            </a:r>
            <a:r>
              <a:rPr lang="en-US" sz="3200" dirty="0">
                <a:ea typeface="+mn-lt"/>
                <a:cs typeface="+mn-lt"/>
              </a:rPr>
              <a:t> (map visual)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CBF65-F804-6CC5-6B2D-6DA8E603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" y="-1085"/>
            <a:ext cx="12185736" cy="685654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>
                <a:solidFill>
                  <a:srgbClr val="0E94FF"/>
                </a:solidFill>
                <a:ea typeface="+mn-lt"/>
                <a:cs typeface="+mn-lt"/>
              </a:rPr>
              <a:t>Customer Analysis: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 dirty="0">
                <a:solidFill>
                  <a:srgbClr val="59A472"/>
                </a:solidFill>
                <a:ea typeface="+mn-lt"/>
                <a:cs typeface="+mn-lt"/>
              </a:rPr>
              <a:t>Visuals: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 dirty="0">
                <a:ea typeface="+mn-lt"/>
                <a:cs typeface="+mn-lt"/>
              </a:rPr>
              <a:t> Customer Age Distribution</a:t>
            </a:r>
            <a:r>
              <a:rPr lang="en-US" sz="2800" dirty="0">
                <a:ea typeface="+mn-lt"/>
                <a:cs typeface="+mn-lt"/>
              </a:rPr>
              <a:t> (donut chart)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 dirty="0">
                <a:ea typeface="+mn-lt"/>
                <a:cs typeface="+mn-lt"/>
              </a:rPr>
              <a:t> Gender Split</a:t>
            </a:r>
            <a:r>
              <a:rPr lang="en-US" sz="2800" dirty="0">
                <a:ea typeface="+mn-lt"/>
                <a:cs typeface="+mn-lt"/>
              </a:rPr>
              <a:t> (donut chart)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 dirty="0">
                <a:ea typeface="+mn-lt"/>
                <a:cs typeface="+mn-lt"/>
              </a:rPr>
              <a:t> Customer Location (City/State/Continent)</a:t>
            </a:r>
            <a:r>
              <a:rPr lang="en-US" sz="2800" dirty="0">
                <a:ea typeface="+mn-lt"/>
                <a:cs typeface="+mn-lt"/>
              </a:rPr>
              <a:t> (map visual)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 dirty="0">
                <a:ea typeface="+mn-lt"/>
                <a:cs typeface="+mn-lt"/>
              </a:rPr>
              <a:t> Average Order Value by Gender or Age Group</a:t>
            </a:r>
            <a:r>
              <a:rPr lang="en-US" sz="2800" dirty="0">
                <a:ea typeface="+mn-lt"/>
                <a:cs typeface="+mn-lt"/>
              </a:rPr>
              <a:t> (bar chart)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 dirty="0">
                <a:solidFill>
                  <a:srgbClr val="1F84FF"/>
                </a:solidFill>
                <a:ea typeface="+mn-lt"/>
                <a:cs typeface="+mn-lt"/>
              </a:rPr>
              <a:t>Insights: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Majority of customers are aged 25–40 years, representing a key working-age demographic.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Gender distribution is nearly balanced, with slightly higher participation from males.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Most customers are concentrated in North America and Europe, while Asia-Pacific shows growing potential.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294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21596-5848-31B8-CB1F-C8A1B5BD6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" y="-1086"/>
            <a:ext cx="12175298" cy="68565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solidFill>
                  <a:srgbClr val="A5CEFF"/>
                </a:solidFill>
                <a:ea typeface="+mn-lt"/>
                <a:cs typeface="+mn-lt"/>
              </a:rPr>
              <a:t>Sales Analysis: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 dirty="0">
                <a:solidFill>
                  <a:srgbClr val="0B2E53"/>
                </a:solidFill>
                <a:ea typeface="+mn-lt"/>
                <a:cs typeface="+mn-lt"/>
              </a:rPr>
              <a:t>Visuals: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b="1" dirty="0">
                <a:ea typeface="+mn-lt"/>
                <a:cs typeface="+mn-lt"/>
              </a:rPr>
              <a:t> Sales Over Time (Monthly or Quarterly)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 dirty="0">
                <a:ea typeface="+mn-lt"/>
                <a:cs typeface="+mn-lt"/>
              </a:rPr>
              <a:t> Sales by Product</a:t>
            </a:r>
            <a:r>
              <a:rPr lang="en-US" sz="2800" dirty="0">
                <a:ea typeface="+mn-lt"/>
                <a:cs typeface="+mn-lt"/>
              </a:rPr>
              <a:t> (bar chart)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 dirty="0">
                <a:ea typeface="+mn-lt"/>
                <a:cs typeface="+mn-lt"/>
              </a:rPr>
              <a:t> Sales by Store</a:t>
            </a:r>
            <a:r>
              <a:rPr lang="en-US" sz="2800" dirty="0">
                <a:ea typeface="+mn-lt"/>
                <a:cs typeface="+mn-lt"/>
              </a:rPr>
              <a:t> (column chart)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 dirty="0">
                <a:solidFill>
                  <a:srgbClr val="121212"/>
                </a:solidFill>
                <a:ea typeface="+mn-lt"/>
                <a:cs typeface="+mn-lt"/>
              </a:rPr>
              <a:t> </a:t>
            </a:r>
            <a:r>
              <a:rPr lang="en-US" sz="2800" b="1" dirty="0">
                <a:ea typeface="+mn-lt"/>
                <a:cs typeface="+mn-lt"/>
              </a:rPr>
              <a:t>Sales by Currency</a:t>
            </a:r>
            <a:r>
              <a:rPr lang="en-US" sz="2800" dirty="0">
                <a:ea typeface="+mn-lt"/>
                <a:cs typeface="+mn-lt"/>
              </a:rPr>
              <a:t> (matrix or pie chart)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 dirty="0">
                <a:solidFill>
                  <a:srgbClr val="437B56"/>
                </a:solidFill>
                <a:ea typeface="+mn-lt"/>
                <a:cs typeface="+mn-lt"/>
              </a:rPr>
              <a:t>Insights: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Total sales show a steady upward trend with strong Q4 peaks.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A few high-value products drive the majority of total revenue.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Sales in USD dominate, but stable foreign currency performance indicates  healthy international reach.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66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43907-D695-18ED-E26A-64B0EA5FE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129" y="2204"/>
            <a:ext cx="12198218" cy="6853707"/>
          </a:xfrm>
        </p:spPr>
        <p:txBody>
          <a:bodyPr/>
          <a:lstStyle/>
          <a:p>
            <a:r>
              <a:rPr lang="en-US" sz="2800" b="1" dirty="0">
                <a:solidFill>
                  <a:srgbClr val="0F3D6E"/>
                </a:solidFill>
                <a:ea typeface="+mn-lt"/>
                <a:cs typeface="+mn-lt"/>
              </a:rPr>
              <a:t>Product Analysis: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 sz="2800" b="1" dirty="0">
                <a:solidFill>
                  <a:srgbClr val="79B5FF"/>
                </a:solidFill>
                <a:ea typeface="+mn-lt"/>
                <a:cs typeface="+mn-lt"/>
              </a:rPr>
              <a:t>Visuals: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b="1" dirty="0">
                <a:ea typeface="+mn-lt"/>
                <a:cs typeface="+mn-lt"/>
              </a:rPr>
              <a:t>Top 10 Products by Revenue</a:t>
            </a:r>
            <a:r>
              <a:rPr lang="en-US" sz="2800" dirty="0">
                <a:ea typeface="+mn-lt"/>
                <a:cs typeface="+mn-lt"/>
              </a:rPr>
              <a:t> (bar chart)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b="1" dirty="0">
                <a:ea typeface="+mn-lt"/>
                <a:cs typeface="+mn-lt"/>
              </a:rPr>
              <a:t>Product Category Performance</a:t>
            </a:r>
            <a:r>
              <a:rPr lang="en-US" sz="2800" dirty="0">
                <a:ea typeface="+mn-lt"/>
                <a:cs typeface="+mn-lt"/>
              </a:rPr>
              <a:t> (</a:t>
            </a:r>
            <a:r>
              <a:rPr lang="en-US" sz="2800" dirty="0" err="1">
                <a:ea typeface="+mn-lt"/>
                <a:cs typeface="+mn-lt"/>
              </a:rPr>
              <a:t>treemap</a:t>
            </a:r>
            <a:r>
              <a:rPr lang="en-US" sz="2800" dirty="0">
                <a:ea typeface="+mn-lt"/>
                <a:cs typeface="+mn-lt"/>
              </a:rPr>
              <a:t> or pie chart)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b="1" dirty="0">
                <a:ea typeface="+mn-lt"/>
                <a:cs typeface="+mn-lt"/>
              </a:rPr>
              <a:t>Profit Margin by Product</a:t>
            </a:r>
            <a:r>
              <a:rPr lang="en-US" sz="2800" dirty="0">
                <a:ea typeface="+mn-lt"/>
                <a:cs typeface="+mn-lt"/>
              </a:rPr>
              <a:t> (scatter chart)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b="1" dirty="0">
                <a:solidFill>
                  <a:srgbClr val="437B56"/>
                </a:solidFill>
                <a:ea typeface="+mn-lt"/>
                <a:cs typeface="+mn-lt"/>
              </a:rPr>
              <a:t>Insights:</a:t>
            </a:r>
            <a:endParaRPr lang="en-US" dirty="0"/>
          </a:p>
          <a:p>
            <a:r>
              <a:rPr lang="en-US" sz="2800" dirty="0">
                <a:ea typeface="+mn-lt"/>
                <a:cs typeface="+mn-lt"/>
              </a:rPr>
              <a:t>Desktop PCs and Accessories lead in both quantity and revenue.</a:t>
            </a:r>
            <a:endParaRPr lang="en-US" dirty="0"/>
          </a:p>
          <a:p>
            <a:r>
              <a:rPr lang="en-US" sz="2800" dirty="0">
                <a:ea typeface="+mn-lt"/>
                <a:cs typeface="+mn-lt"/>
              </a:rPr>
              <a:t>Accessories deliver higher profit margins than core hardware.</a:t>
            </a:r>
            <a:endParaRPr lang="en-US" dirty="0"/>
          </a:p>
          <a:p>
            <a:r>
              <a:rPr lang="en-US" sz="2800" dirty="0">
                <a:ea typeface="+mn-lt"/>
                <a:cs typeface="+mn-lt"/>
              </a:rPr>
              <a:t>Underperforming categories such as clothing present scope for strategic promotions.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36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DAE9-D1DF-0D08-658C-B022BD296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130" y="2205"/>
            <a:ext cx="12208658" cy="6843268"/>
          </a:xfrm>
        </p:spPr>
        <p:txBody>
          <a:bodyPr/>
          <a:lstStyle/>
          <a:p>
            <a:r>
              <a:rPr lang="en-US" sz="2800" b="1" dirty="0">
                <a:solidFill>
                  <a:srgbClr val="0E94FF"/>
                </a:solidFill>
                <a:ea typeface="+mn-lt"/>
                <a:cs typeface="+mn-lt"/>
              </a:rPr>
              <a:t>Store Analysis: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 sz="2800" b="1">
                <a:solidFill>
                  <a:srgbClr val="59A472"/>
                </a:solidFill>
                <a:ea typeface="+mn-lt"/>
                <a:cs typeface="+mn-lt"/>
              </a:rPr>
              <a:t>Visuals: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sz="2800" b="1" dirty="0">
                <a:ea typeface="+mn-lt"/>
                <a:cs typeface="+mn-lt"/>
              </a:rPr>
              <a:t> Sales by Store Location</a:t>
            </a:r>
            <a:r>
              <a:rPr lang="en-US" sz="2800" dirty="0">
                <a:ea typeface="+mn-lt"/>
                <a:cs typeface="+mn-lt"/>
              </a:rPr>
              <a:t> (map)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b="1" dirty="0">
                <a:ea typeface="+mn-lt"/>
                <a:cs typeface="+mn-lt"/>
              </a:rPr>
              <a:t> Store Size vs. Sales Performance</a:t>
            </a:r>
            <a:r>
              <a:rPr lang="en-US" sz="2800" dirty="0">
                <a:ea typeface="+mn-lt"/>
                <a:cs typeface="+mn-lt"/>
              </a:rPr>
              <a:t> (scatter plot)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b="1" dirty="0">
                <a:ea typeface="+mn-lt"/>
                <a:cs typeface="+mn-lt"/>
              </a:rPr>
              <a:t> Store Opening Year vs. Revenue</a:t>
            </a:r>
            <a:r>
              <a:rPr lang="en-US" sz="2800" dirty="0">
                <a:ea typeface="+mn-lt"/>
                <a:cs typeface="+mn-lt"/>
              </a:rPr>
              <a:t> (line chart)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b="1" dirty="0">
                <a:solidFill>
                  <a:srgbClr val="0F3A69"/>
                </a:solidFill>
                <a:ea typeface="+mn-lt"/>
                <a:cs typeface="+mn-lt"/>
              </a:rPr>
              <a:t>Insights: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dirty="0">
                <a:ea typeface="+mn-lt"/>
                <a:cs typeface="+mn-lt"/>
              </a:rPr>
              <a:t> Stores above 1,500 sq. meters generate the highest revenue.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dirty="0">
                <a:ea typeface="+mn-lt"/>
                <a:cs typeface="+mn-lt"/>
              </a:rPr>
              <a:t> Early-established stores show mature sales trends.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dirty="0">
                <a:ea typeface="+mn-lt"/>
                <a:cs typeface="+mn-lt"/>
              </a:rPr>
              <a:t> Asia-Pacific stores show significant future growth potential.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8998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A0774-CFC5-3C68-3EA8-79A14AFD5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130" y="2204"/>
            <a:ext cx="12187780" cy="6853708"/>
          </a:xfrm>
        </p:spPr>
        <p:txBody>
          <a:bodyPr/>
          <a:lstStyle/>
          <a:p>
            <a:r>
              <a:rPr lang="en-US" sz="2400" b="1" dirty="0">
                <a:solidFill>
                  <a:srgbClr val="0F3D6E"/>
                </a:solidFill>
                <a:ea typeface="+mn-lt"/>
                <a:cs typeface="+mn-lt"/>
              </a:rPr>
              <a:t>Actionable Recommendations: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 sz="2400" b="1" dirty="0">
                <a:ea typeface="+mn-lt"/>
                <a:cs typeface="+mn-lt"/>
              </a:rPr>
              <a:t> 1.Enhance Customer Loyalty Programs</a:t>
            </a:r>
            <a:r>
              <a:rPr lang="en-US" sz="2400" dirty="0">
                <a:ea typeface="+mn-lt"/>
                <a:cs typeface="+mn-lt"/>
              </a:rPr>
              <a:t> — </a:t>
            </a:r>
            <a:endParaRPr lang="en-US" dirty="0">
              <a:ea typeface="+mn-lt"/>
              <a:cs typeface="+mn-lt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2400" dirty="0">
                <a:ea typeface="+mn-lt"/>
                <a:cs typeface="+mn-lt"/>
              </a:rPr>
              <a:t>Introduce a tier-based reward system to increase retention.</a:t>
            </a:r>
            <a:endParaRPr lang="en-US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sz="2400" b="1" dirty="0">
                <a:ea typeface="+mn-lt"/>
                <a:cs typeface="+mn-lt"/>
              </a:rPr>
              <a:t> 2.Seasonal Campaigns</a:t>
            </a:r>
            <a:r>
              <a:rPr lang="en-US" sz="2400" dirty="0">
                <a:ea typeface="+mn-lt"/>
                <a:cs typeface="+mn-lt"/>
              </a:rPr>
              <a:t> — </a:t>
            </a:r>
            <a:endParaRPr lang="en-US" dirty="0">
              <a:ea typeface="+mn-lt"/>
              <a:cs typeface="+mn-lt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2400" dirty="0">
                <a:ea typeface="+mn-lt"/>
                <a:cs typeface="+mn-lt"/>
              </a:rPr>
              <a:t>Launch Q4 bundles (e.g., PCs + Accessories) to maximize peak sales.</a:t>
            </a:r>
            <a:endParaRPr lang="en-US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sz="2400" b="1" dirty="0">
                <a:ea typeface="+mn-lt"/>
                <a:cs typeface="+mn-lt"/>
              </a:rPr>
              <a:t> 3.Product Focus</a:t>
            </a:r>
            <a:r>
              <a:rPr lang="en-US" sz="2400" dirty="0">
                <a:ea typeface="+mn-lt"/>
                <a:cs typeface="+mn-lt"/>
              </a:rPr>
              <a:t> — </a:t>
            </a:r>
            <a:endParaRPr lang="en-US" dirty="0">
              <a:ea typeface="+mn-lt"/>
              <a:cs typeface="+mn-lt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2400">
                <a:ea typeface="+mn-lt"/>
                <a:cs typeface="+mn-lt"/>
              </a:rPr>
              <a:t>Promote high-margin accessories while improving low-performing items.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sz="2400" b="1" dirty="0">
                <a:ea typeface="+mn-lt"/>
                <a:cs typeface="+mn-lt"/>
              </a:rPr>
              <a:t> 4.Store Optimization</a:t>
            </a:r>
            <a:r>
              <a:rPr lang="en-US" sz="2400" dirty="0">
                <a:ea typeface="+mn-lt"/>
                <a:cs typeface="+mn-lt"/>
              </a:rPr>
              <a:t> 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en-US" sz="2400" dirty="0">
                <a:ea typeface="+mn-lt"/>
                <a:cs typeface="+mn-lt"/>
              </a:rPr>
              <a:t> Reassess store layout and space utilization for improved conversions.</a:t>
            </a:r>
            <a:endParaRPr lang="en-US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sz="2400" b="1" dirty="0">
                <a:ea typeface="+mn-lt"/>
                <a:cs typeface="+mn-lt"/>
              </a:rPr>
              <a:t> 5.Regional Expansion</a:t>
            </a:r>
            <a:r>
              <a:rPr lang="en-US" sz="2400" dirty="0">
                <a:ea typeface="+mn-lt"/>
                <a:cs typeface="+mn-lt"/>
              </a:rPr>
              <a:t> — </a:t>
            </a:r>
            <a:endParaRPr lang="en-US" dirty="0">
              <a:ea typeface="+mn-lt"/>
              <a:cs typeface="+mn-lt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2400">
                <a:ea typeface="+mn-lt"/>
                <a:cs typeface="+mn-lt"/>
              </a:rPr>
              <a:t>Expand smaller-format stores in Asia-Pacific.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sz="2400" b="1" dirty="0">
                <a:ea typeface="+mn-lt"/>
                <a:cs typeface="+mn-lt"/>
              </a:rPr>
              <a:t> 6.Cost Efficiency</a:t>
            </a:r>
            <a:r>
              <a:rPr lang="en-US" sz="2400" dirty="0">
                <a:ea typeface="+mn-lt"/>
                <a:cs typeface="+mn-lt"/>
              </a:rPr>
              <a:t> —Strengthen supplier negotiations and use forecasting to manage inventory.</a:t>
            </a:r>
            <a:endParaRPr lang="en-US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en-US" sz="2400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8514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CAC43-1D66-3D6E-7BBF-48B73E60F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9" y="2204"/>
            <a:ext cx="12187780" cy="6436174"/>
          </a:xfrm>
        </p:spPr>
        <p:txBody>
          <a:bodyPr/>
          <a:lstStyle/>
          <a:p>
            <a:r>
              <a:rPr lang="en-US" sz="2800" b="1" dirty="0">
                <a:solidFill>
                  <a:srgbClr val="0F3A69"/>
                </a:solidFill>
                <a:ea typeface="+mn-lt"/>
                <a:cs typeface="+mn-lt"/>
              </a:rPr>
              <a:t>Results: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 sz="2800">
                <a:ea typeface="+mn-lt"/>
                <a:cs typeface="+mn-lt"/>
              </a:rPr>
              <a:t> The EDA for </a:t>
            </a:r>
            <a:r>
              <a:rPr lang="en-US" sz="2800" i="1">
                <a:ea typeface="+mn-lt"/>
                <a:cs typeface="+mn-lt"/>
              </a:rPr>
              <a:t>Global Electronics</a:t>
            </a:r>
            <a:r>
              <a:rPr lang="en-US" sz="2800">
                <a:ea typeface="+mn-lt"/>
                <a:cs typeface="+mn-lt"/>
              </a:rPr>
              <a:t> delivers clean and integrated datasets along with deep insights into customer demographics, purchasing behaviors, product performance, and store operations.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sz="2800" dirty="0">
                <a:ea typeface="+mn-lt"/>
                <a:cs typeface="+mn-lt"/>
              </a:rPr>
              <a:t> The report supports actionable strategies to optimize marketing, sales forecasting, inventory management, and store expansion.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sz="2800" dirty="0">
                <a:ea typeface="+mn-lt"/>
                <a:cs typeface="+mn-lt"/>
              </a:rPr>
              <a:t> This analysis will empower "</a:t>
            </a:r>
            <a:r>
              <a:rPr lang="en-US" sz="2800" i="1" dirty="0">
                <a:ea typeface="+mn-lt"/>
                <a:cs typeface="+mn-lt"/>
              </a:rPr>
              <a:t>Global Electronics"</a:t>
            </a:r>
            <a:r>
              <a:rPr lang="en-US" sz="2800" dirty="0">
                <a:ea typeface="+mn-lt"/>
                <a:cs typeface="+mn-lt"/>
              </a:rPr>
              <a:t> to enhance customer satisfaction, maximize profitability, and achieve sustainable business growth.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52884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77</cp:revision>
  <dcterms:created xsi:type="dcterms:W3CDTF">2025-11-12T18:20:46Z</dcterms:created>
  <dcterms:modified xsi:type="dcterms:W3CDTF">2025-11-12T18:41:42Z</dcterms:modified>
</cp:coreProperties>
</file>